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300" r:id="rId3"/>
    <p:sldId id="258" r:id="rId4"/>
    <p:sldId id="295" r:id="rId5"/>
    <p:sldId id="296" r:id="rId6"/>
    <p:sldId id="259" r:id="rId7"/>
    <p:sldId id="261" r:id="rId8"/>
    <p:sldId id="294" r:id="rId9"/>
    <p:sldId id="319" r:id="rId10"/>
    <p:sldId id="322" r:id="rId11"/>
    <p:sldId id="320" r:id="rId12"/>
    <p:sldId id="327" r:id="rId13"/>
    <p:sldId id="312" r:id="rId14"/>
    <p:sldId id="314" r:id="rId15"/>
    <p:sldId id="315" r:id="rId16"/>
    <p:sldId id="323" r:id="rId17"/>
    <p:sldId id="324" r:id="rId18"/>
    <p:sldId id="328" r:id="rId19"/>
    <p:sldId id="316" r:id="rId20"/>
    <p:sldId id="310" r:id="rId21"/>
    <p:sldId id="311" r:id="rId22"/>
    <p:sldId id="329" r:id="rId23"/>
    <p:sldId id="33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3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6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95D6-52EF-4DE5-87C5-8FBE094C2AF4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E07E9-D8EE-4D2C-9D59-48477F0FD4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21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7972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28506-A360-4BC5-A577-4169684664F1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6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611AF-04B0-43BA-A161-9226F8D028C2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258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24163-1277-429D-815B-0D0ABCD1A801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6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65FA-07D5-48DB-B72B-ECA8EC8647B9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2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D5889-93FC-4CCA-8EDF-FE4B7D3B2FB9}" type="datetime1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13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6CC9E-3BF5-46B0-A6C7-6903F85793B1}" type="datetime1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1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015-6C84-4A2C-9FD7-B73181F13808}" type="datetime1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3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DC3DE-9E80-497B-91BD-FC1C9C97D43D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CFF88-F59C-4912-9868-1237521A78E2}" type="datetime1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D2F86-DE08-4A79-90AB-0ED728AB7C9B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084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74B74-D49C-467E-BC24-7CA2510CFC61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92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5A1C1D9E-DD96-4BBC-B08B-76FE930CFDA6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90" name="Google Shape;90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91" name="Google Shape;91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55880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6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6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800">
                <a:solidFill>
                  <a:srgbClr val="888888"/>
                </a:solidFill>
              </a:defRPr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500">
                <a:solidFill>
                  <a:srgbClr val="888888"/>
                </a:solidFill>
              </a:defRPr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350">
                <a:solidFill>
                  <a:srgbClr val="888888"/>
                </a:solidFill>
              </a:defRPr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3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4451EDE-082A-495B-8E60-584165B9C3CD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02" name="Google Shape;102;p3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03" name="Google Shape;103;p3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01626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7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7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37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3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3276C6DB-D15E-4E11-A311-BD69BEDB533A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09" name="Google Shape;109;p3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10" name="Google Shape;110;p3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3838580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8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14" name="Google Shape;114;p38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38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 b="1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116" name="Google Shape;116;p38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B9B9A153-DAEB-4A0E-9F14-D51D603E8D7A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18" name="Google Shape;118;p3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19" name="Google Shape;119;p3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2520727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9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FA5FF31D-F1D0-4B55-A7F8-A17AFD2C2BA0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23" name="Google Shape;123;p3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75268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C591D4E-D70B-4D80-AF8A-3DED7D2FFA7C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27" name="Google Shape;127;p4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28" name="Google Shape;128;p4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1255305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238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2400"/>
            </a:lvl1pPr>
            <a:lvl2pPr marL="685800" lvl="1" indent="-30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100"/>
            </a:lvl2pPr>
            <a:lvl3pPr marL="1028700" lvl="2" indent="-2857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3pPr>
            <a:lvl4pPr marL="1371600" lvl="3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4pPr>
            <a:lvl5pPr marL="1714500" lvl="4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5pPr>
            <a:lvl6pPr marL="2057400" lvl="5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6pPr>
            <a:lvl7pPr marL="2400300" lvl="6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7pPr>
            <a:lvl8pPr marL="2743200" lvl="7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8pPr>
            <a:lvl9pPr marL="3086100" lvl="8" indent="-2667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2" name="Google Shape;132;p4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30ACCA54-B07D-4DEF-B209-3D0559BAA346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34" name="Google Shape;134;p4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832713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/>
            </a:lvl1pPr>
            <a:lvl2pPr marL="685800" lvl="1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050"/>
            </a:lvl2pPr>
            <a:lvl3pPr marL="1028700" lvl="2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900"/>
            </a:lvl3pPr>
            <a:lvl4pPr marL="1371600" lvl="3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4pPr>
            <a:lvl5pPr marL="1714500" lvl="4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5pPr>
            <a:lvl6pPr marL="2057400" lvl="5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6pPr>
            <a:lvl7pPr marL="2400300" lvl="6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7pPr>
            <a:lvl8pPr marL="2743200" lvl="7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8pPr>
            <a:lvl9pPr marL="3086100" lvl="8" indent="-171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750"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2C097AF5-011B-4942-B293-D3D4C6C0F761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41" name="Google Shape;141;p4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42" name="Google Shape;142;p4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065803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3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3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DCB8B585-56E6-4F9E-9F3F-0EC0324EAF3F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47" name="Google Shape;147;p4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48" name="Google Shape;148;p4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5296172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4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1C4DBA88-B562-48EF-9F45-BB43A1618EB6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153" name="Google Shape;153;p4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154" name="Google Shape;154;p4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2760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C95C0-74E6-4785-BE1A-347F589CBB62}" type="datetime1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9222F-C880-4594-8D1F-0689CAEB7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48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685800">
              <a:buClr>
                <a:srgbClr val="000000"/>
              </a:buClr>
            </a:pPr>
            <a:fld id="{C71EE6E0-70B2-4CAC-BD46-475132C8FF31}" type="datetime1">
              <a:rPr lang="en-US" kern="0" smtClean="0"/>
              <a:t>11/7/2025</a:t>
            </a:fld>
            <a:endParaRPr lang="en-GB" kern="0"/>
          </a:p>
        </p:txBody>
      </p:sp>
      <p:sp>
        <p:nvSpPr>
          <p:cNvPr id="84" name="Google Shape;84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685800">
              <a:buClr>
                <a:srgbClr val="000000"/>
              </a:buClr>
            </a:pPr>
            <a:r>
              <a:rPr lang="en-US" kern="0"/>
              <a:t>22CS703 - Project I                                  Review 1</a:t>
            </a:r>
            <a:endParaRPr lang="en-GB" kern="0"/>
          </a:p>
        </p:txBody>
      </p:sp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‹#›</a:t>
            </a:fld>
            <a:endParaRPr lang="en-US" kern="0"/>
          </a:p>
        </p:txBody>
      </p:sp>
    </p:spTree>
    <p:extLst>
      <p:ext uri="{BB962C8B-B14F-4D97-AF65-F5344CB8AC3E}">
        <p14:creationId xmlns:p14="http://schemas.microsoft.com/office/powerpoint/2010/main" val="344233114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F64FB-8841-4D92-9C6F-A57C9F25D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219200"/>
            <a:ext cx="8305800" cy="5059363"/>
          </a:xfrm>
        </p:spPr>
        <p:txBody>
          <a:bodyPr vert="horz" lIns="91440" tIns="45720" rIns="91440" bIns="45720" spcCol="91440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SURVEILLANCE: MULTI-WEAPON ARMED PERSON DETECTION WITH AUTOMATED THREAT ALERTS USING YOLO V8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2400" b="1" dirty="0">
                <a:latin typeface="Times New Roman"/>
                <a:cs typeface="Times New Roman"/>
              </a:rPr>
              <a:t>     Guide Name:                                       Team Members: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/>
                <a:cs typeface="Times New Roman"/>
              </a:rPr>
              <a:t>    </a:t>
            </a:r>
            <a:r>
              <a:rPr lang="en-US" sz="2400" dirty="0">
                <a:latin typeface="Times New Roman"/>
                <a:cs typeface="Times New Roman"/>
              </a:rPr>
              <a:t>Ms. </a:t>
            </a:r>
            <a:r>
              <a:rPr lang="en-US" sz="2400" dirty="0" err="1">
                <a:latin typeface="Times New Roman"/>
                <a:cs typeface="Times New Roman"/>
              </a:rPr>
              <a:t>P.Anitha</a:t>
            </a:r>
            <a:r>
              <a:rPr lang="en-US" sz="2400" dirty="0">
                <a:latin typeface="Times New Roman"/>
                <a:cs typeface="Times New Roman"/>
              </a:rPr>
              <a:t>                               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Asst. Professor/CSE     		 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C214B-4946-4BF6-8024-A550C5708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1671"/>
            <a:ext cx="9067799" cy="113884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21038F-C344-057F-B153-50074A6C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52600" y="6356350"/>
            <a:ext cx="5181600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CB17B-5E61-B662-2D4D-5B5955B64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14993-2F4C-464A-39D3-C8EFA4DD3C60}"/>
              </a:ext>
            </a:extLst>
          </p:cNvPr>
          <p:cNvSpPr txBox="1"/>
          <p:nvPr/>
        </p:nvSpPr>
        <p:spPr>
          <a:xfrm>
            <a:off x="4685980" y="4552149"/>
            <a:ext cx="40005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DHARANISH S    (727722EUCS043)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AGASH K             (727722EUCS009)</a:t>
            </a:r>
          </a:p>
          <a:p>
            <a:r>
              <a:rPr lang="en-IN" dirty="0">
                <a:latin typeface="Times New Roman"/>
                <a:cs typeface="Times New Roman"/>
              </a:rPr>
              <a:t>HARIBASKAR S  (727722EUCS063)</a:t>
            </a:r>
          </a:p>
          <a:p>
            <a:r>
              <a:rPr lang="en-IN" dirty="0">
                <a:latin typeface="Times New Roman"/>
                <a:cs typeface="Times New Roman"/>
              </a:rPr>
              <a:t>GOWTHAM S       (727722EUCS053)</a:t>
            </a:r>
          </a:p>
          <a:p>
            <a:endParaRPr lang="en-IN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IV CSE A  </a:t>
            </a:r>
            <a:r>
              <a:rPr lang="en-IN" b="1" dirty="0">
                <a:latin typeface="Times New Roman"/>
                <a:cs typeface="Times New Roman"/>
              </a:rPr>
              <a:t> </a:t>
            </a:r>
            <a:endParaRPr lang="en-IN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764E3-5B24-6794-3BDF-D42462E2DBA7}"/>
              </a:ext>
            </a:extLst>
          </p:cNvPr>
          <p:cNvSpPr txBox="1"/>
          <p:nvPr/>
        </p:nvSpPr>
        <p:spPr>
          <a:xfrm>
            <a:off x="6153150" y="590923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Times New Roman"/>
              </a:rPr>
              <a:t>BATCH NO:</a:t>
            </a:r>
            <a:r>
              <a:rPr lang="en-IN" dirty="0">
                <a:latin typeface="Times New Roman"/>
              </a:rPr>
              <a:t> 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90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530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multi-weapon detection using deep learning enables automated, scalable, and efficient surveillance in public and restricted areas.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based on manual monitoring or motion sensors are slow, prone to human error, and unsuitable for proactive threat detection.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and CNN-LSTM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framework ensures rapid and accurate identification of armed individuals in live video streams.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automated alert mechanisms enhance response speed, detection accuracy, and overall situational awareness in modern smart surveillance systems.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C8FA6-5B6C-5D18-01A7-4504ED5BA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356350"/>
            <a:ext cx="6477000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6FB91-4EE3-3BE6-3913-45C21B358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83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Segoe UI Emoji" panose="020B0502040204020203" pitchFamily="34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combined with computer vision enables precise detection and classification of weapons in complex surveillance environments.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automated and real-time monitoring compared to conventional manual surveillance methods.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security networks strengthens threat detection, response coordination, and overall situational awareness.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identification of armed individuals supports public safety through faster, more reliable, and proactive threat management.</a:t>
            </a:r>
            <a:endParaRPr lang="en-US" sz="16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E0837-FACC-F479-1228-657AD239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6350"/>
            <a:ext cx="5791200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EF572-922D-3C11-80E4-2B8C8724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33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B63C7C-9BC9-4AD0-B9CE-69E721D06904}"/>
              </a:ext>
            </a:extLst>
          </p:cNvPr>
          <p:cNvSpPr txBox="1"/>
          <p:nvPr/>
        </p:nvSpPr>
        <p:spPr>
          <a:xfrm>
            <a:off x="415208" y="209046"/>
            <a:ext cx="8280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4FEB3-5CDE-2A92-150F-83A2C5A856C8}"/>
              </a:ext>
            </a:extLst>
          </p:cNvPr>
          <p:cNvSpPr txBox="1"/>
          <p:nvPr/>
        </p:nvSpPr>
        <p:spPr>
          <a:xfrm>
            <a:off x="3112674" y="-841361"/>
            <a:ext cx="69342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Times New Roman, size 15 and line space 1.5, Maximum 2 slides </a:t>
            </a:r>
            <a:endParaRPr lang="en-US" sz="1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A65BD9-BFA2-0517-8411-1750055CC3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028950" y="6466391"/>
            <a:ext cx="3086100" cy="365125"/>
          </a:xfrm>
        </p:spPr>
        <p:txBody>
          <a:bodyPr/>
          <a:lstStyle/>
          <a:p>
            <a:pPr defTabSz="685800">
              <a:buClr>
                <a:srgbClr val="000000"/>
              </a:buClr>
            </a:pPr>
            <a:r>
              <a:rPr lang="en-US" kern="0" dirty="0"/>
              <a:t>22CS703 - Project I                                  viva</a:t>
            </a:r>
            <a:endParaRPr lang="en-GB" kern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DFCF-D015-7C7D-D1A1-8739F3FA2F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685800">
              <a:buClr>
                <a:srgbClr val="000000"/>
              </a:buClr>
            </a:pPr>
            <a:fld id="{00000000-1234-1234-1234-123412341234}" type="slidenum">
              <a:rPr lang="en-US" kern="0" smtClean="0"/>
              <a:pPr defTabSz="685800">
                <a:buClr>
                  <a:srgbClr val="000000"/>
                </a:buClr>
              </a:pPr>
              <a:t>4</a:t>
            </a:fld>
            <a:endParaRPr lang="en-US" kern="0"/>
          </a:p>
        </p:txBody>
      </p:sp>
      <p:pic>
        <p:nvPicPr>
          <p:cNvPr id="8" name="table">
            <a:extLst>
              <a:ext uri="{FF2B5EF4-FFF2-40B4-BE49-F238E27FC236}">
                <a16:creationId xmlns:a16="http://schemas.microsoft.com/office/drawing/2014/main" id="{8B2D26BF-A58A-E162-5D4A-B4A259D0B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08" y="729823"/>
            <a:ext cx="8379283" cy="577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2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Segoe UI Emoji" panose="020B0502040204020203" pitchFamily="34" charset="0"/>
                <a:cs typeface="Times New Roman" panose="02020603050405020304" pitchFamily="18" charset="0"/>
              </a:rPr>
              <a:t>MOTIVATIONS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649" y="1242218"/>
            <a:ext cx="8229600" cy="523478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weapon-related incidents highlight the need for intelligent and automated surveillance systems in public and restricted areas.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learning–based computer vision enables accurate identification of weapons and suspicious activities in real time.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of armed individuals supports timely threat response and enhances public safety.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Real-time, automated multi-weapon detection ensures scalable and efficient monitoring for modern smart security systems.</a:t>
            </a:r>
            <a:endParaRPr lang="en-GB" sz="20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2E42C-1DA6-005B-A50E-55173095D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546944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6F5C6-B19F-4AA3-730C-1F7F0D34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3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Segoe UI Emoji" panose="020B0502040204020203" pitchFamily="34" charset="0"/>
                <a:cs typeface="Times New Roman" panose="02020603050405020304" pitchFamily="18" charset="0"/>
              </a:rPr>
              <a:t>PROBLEM STATEMENT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51054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surveillance footage is time-consuming, labor-intensive, and prone to human error.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security systems lack real-time intelligence and fail to detect threats proactively.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struggle to differentiate between multiple weapon types and non-threatening objects in dynamic environments.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automated multi-weapon identification and instant alert mechanisms limits timely threat response and public safety.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2B0C4-5225-CCAD-AC9D-993F4BCB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507188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69402-BE07-7A59-2F4A-394973212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9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Segoe UI Emoji" panose="020B0502040204020203" pitchFamily="34" charset="0"/>
                <a:cs typeface="Times New Roman" panose="02020603050405020304" pitchFamily="18" charset="0"/>
              </a:rPr>
              <a:t>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16572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deep learning–based smart surveillance system using YOLOv8 And CNN-LSTM for accurate and real-time detection of armed individuals carrying multiple weapon types.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robust detection accuracy across different environments by optimizing model training with diverse datasets and advanced preprocessing techniques.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automated alert mechanisms and visualization tools for explainable, responsive, and efficient threat management in public security environments.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D468D-61DE-2F5D-8E33-62B09F12E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189136" cy="365125"/>
          </a:xfrm>
        </p:spPr>
        <p:txBody>
          <a:bodyPr/>
          <a:lstStyle/>
          <a:p>
            <a:r>
              <a:rPr lang="en-US" dirty="0"/>
              <a:t>22CS703 - Project I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1B2A5-2471-FEAE-7D98-BCD2FD4D6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33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A9BD-838D-AC35-1A33-4A734080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29CA8-6B83-56DD-628A-E758BEBBC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630A6-6932-5E06-642B-2826DDD5D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592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500" b="1" dirty="0">
                <a:latin typeface="Times New Roman"/>
                <a:cs typeface="Times New Roman"/>
              </a:rPr>
              <a:t>Existing Architecture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500" b="1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4250E-3800-62CB-BFA9-D9696E9F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3125525" cy="365125"/>
          </a:xfrm>
        </p:spPr>
        <p:txBody>
          <a:bodyPr/>
          <a:lstStyle/>
          <a:p>
            <a:r>
              <a:rPr lang="en-US" dirty="0"/>
              <a:t>22CS703 - Project I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3851C-D70E-1279-AEAB-74C99225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9C9469-9CE2-89A2-5FA4-36A3A1962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42" y="1996017"/>
            <a:ext cx="7640116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91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BE253-337A-27F2-9C46-8E92424C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9BEB9-043C-57E7-0671-F8B6DC01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3327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AADD2-157D-154C-C4E2-65735E42C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837" y="763971"/>
            <a:ext cx="8390965" cy="577525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500" b="1" dirty="0" err="1">
                <a:latin typeface="Times New Roman"/>
                <a:cs typeface="Times New Roman"/>
              </a:rPr>
              <a:t>Exisiting</a:t>
            </a:r>
            <a:r>
              <a:rPr lang="en-IN" sz="2500" b="1" dirty="0">
                <a:latin typeface="Times New Roman"/>
                <a:cs typeface="Times New Roman"/>
              </a:rPr>
              <a:t> Architecture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500" b="1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CE573-31E2-914E-C6FD-C479D4310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5990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4198A-A453-EF37-DD01-048FBD72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8477D-324C-E6F7-91C4-F01C61E47D1D}"/>
              </a:ext>
            </a:extLst>
          </p:cNvPr>
          <p:cNvSpPr txBox="1"/>
          <p:nvPr/>
        </p:nvSpPr>
        <p:spPr>
          <a:xfrm>
            <a:off x="381837" y="1692824"/>
            <a:ext cx="8613975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7345" indent="-34734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people, faces, and handguns in real-time video surveillance.</a:t>
            </a:r>
          </a:p>
          <a:p>
            <a:pPr marL="347345" indent="-34734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applies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heuristics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Method of Centers, Distances, and Intersections  to link guns with their carriers.</a:t>
            </a:r>
          </a:p>
          <a:p>
            <a:pPr marL="347345" indent="-34734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 ML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Random Forest and SVM) are trained using features such as distances and intersection areas for better accuracy.</a:t>
            </a:r>
          </a:p>
          <a:p>
            <a:pPr marL="347345" indent="-34734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works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phases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extraction by YOLOv4 and armed person detection by heuristics and ML models.</a:t>
            </a:r>
          </a:p>
          <a:p>
            <a:pPr marL="347345" indent="-347345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7345" indent="-347345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527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F1C11-3421-8EE6-804E-C55A4BBC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AA82-25CF-F124-68EA-51EDB0AF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E1D0F-B0AE-82B9-FC97-D8D4C199C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592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500" b="1" dirty="0">
                <a:latin typeface="Times New Roman"/>
                <a:cs typeface="Times New Roman"/>
              </a:rPr>
              <a:t>Proposed Architecture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800" b="1" dirty="0"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6DD8A-BE13-811B-4329-C15656121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0400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50F65-0B51-618E-D655-970916CC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3EF716-B1E1-D385-8C0A-5F5C4F10D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2"/>
          <a:stretch>
            <a:fillRect/>
          </a:stretch>
        </p:blipFill>
        <p:spPr>
          <a:xfrm>
            <a:off x="1797627" y="1623219"/>
            <a:ext cx="5174673" cy="429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95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A4004-2352-8FC2-64A5-90EA6085F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D14EA-9380-BD7B-C58C-D2B811293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METHODOLOGIES</a:t>
            </a:r>
            <a:endParaRPr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C8667-72EC-8571-B853-8CF53F8E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80533"/>
            <a:ext cx="8458200" cy="55927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Algorithm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integrates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multi-weapon detection and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network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recognition.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spatial features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multiple weapon types (e.g., guns, knives, rifles)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each frame, ensuring precise localization and classification.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CNN-LSTM module captures temporal motion patterns across consecutive frames to differentiate between harmless movements and threatening actions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are sent for true cases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model’s performance is assessed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Precision, Recall, and F1 Score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training and validation plots for each metrics</a:t>
            </a:r>
            <a:endParaRPr lang="en-IN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F3C98-DCCF-2FAE-27FC-3B678B7E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200400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F420-5FA4-D786-57DC-0EBFE5900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98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3A3A0-8882-5EEF-B831-7290DBC0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436E9-D0A5-8B87-6613-1C10ED27A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543" y="1417638"/>
            <a:ext cx="8229600" cy="48307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Measures the overall correctness of weapon detection by evaluating the ratio of correctly identified threats to the total instances.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Determines how many of the detected weapons are correctly classified, minimizing false weapon detections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Evaluates the system’s ability to detect all actual weapons and armed individuals, reducing missed threats.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Combines precision and recall to provide a balanced assessment of the detection model’s overall performance</a:t>
            </a:r>
            <a:r>
              <a:rPr lang="en-US" sz="2000" dirty="0"/>
              <a:t>.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CD64D88-CAA1-A5E7-F0DF-E73A4D607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</a:t>
            </a:r>
            <a:endParaRPr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4387D4-4C76-B215-442E-07F55FCE0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199" y="6356350"/>
            <a:ext cx="3149380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93FD9-085A-4E7D-B8F5-361D21A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22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66357-0F9B-04DE-24E9-567A57FE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70506A-F897-64E4-D060-3895694096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4543" y="1417638"/>
                <a:ext cx="8229600" cy="4830762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r>
                  <a:rPr lang="en-IN" sz="20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Proportion of correctly classified instances (weapon) out of the total test samples.       </a:t>
                </a:r>
              </a:p>
              <a:p>
                <a:pPr marL="0" indent="0">
                  <a:buNone/>
                </a:pPr>
                <a:r>
                  <a:rPr lang="en-IN" sz="20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𝑨𝒄𝒄𝒖𝒓𝒂𝒄𝒚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𝑻𝑷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𝑻𝑵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/ 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𝑻𝑷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𝑻𝑵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𝑭𝑷</m:t>
                    </m:r>
                    <m:r>
                      <a:rPr lang="en-IN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𝑭𝑵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IN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             </m:t>
                    </m:r>
                  </m:oMath>
                </a14:m>
                <a:br>
                  <a:rPr lang="en-IN" sz="2000" b="1" i="1" dirty="0">
                    <a:latin typeface="Cambria Math" panose="02040503050406030204" pitchFamily="18" charset="0"/>
                    <a:cs typeface="Times New Roman" pitchFamily="18" charset="0"/>
                  </a:rPr>
                </a:br>
                <a:endParaRPr lang="en-I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70506A-F897-64E4-D060-3895694096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543" y="1417638"/>
                <a:ext cx="8229600" cy="4830762"/>
              </a:xfrm>
              <a:blipFill>
                <a:blip r:embed="rId2"/>
                <a:stretch>
                  <a:fillRect l="-667" t="-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BEE486BE-0976-70CB-A3B1-DEB24DFD0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Accuracy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006525-5A88-F4FD-8F5B-7113026D2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371" y="6573672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FC2B2-023D-5257-3150-8C19B018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7EFF64-21CA-5E70-7B36-55316E6B4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240331"/>
              </p:ext>
            </p:extLst>
          </p:nvPr>
        </p:nvGraphicFramePr>
        <p:xfrm>
          <a:off x="509675" y="2591606"/>
          <a:ext cx="3452532" cy="4055443"/>
        </p:xfrm>
        <a:graphic>
          <a:graphicData uri="http://schemas.openxmlformats.org/drawingml/2006/table">
            <a:tbl>
              <a:tblPr/>
              <a:tblGrid>
                <a:gridCol w="1726266">
                  <a:extLst>
                    <a:ext uri="{9D8B030D-6E8A-4147-A177-3AD203B41FA5}">
                      <a16:colId xmlns:a16="http://schemas.microsoft.com/office/drawing/2014/main" val="2653738590"/>
                    </a:ext>
                  </a:extLst>
                </a:gridCol>
                <a:gridCol w="1726266">
                  <a:extLst>
                    <a:ext uri="{9D8B030D-6E8A-4147-A177-3AD203B41FA5}">
                      <a16:colId xmlns:a16="http://schemas.microsoft.com/office/drawing/2014/main" val="2961066953"/>
                    </a:ext>
                  </a:extLst>
                </a:gridCol>
              </a:tblGrid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080892"/>
                  </a:ext>
                </a:extLst>
              </a:tr>
              <a:tr h="76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 R-CNN(Baseline)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067807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SSD-MobileNetV2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486466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RetinaNet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  <a:r>
                        <a:rPr lang="en-IN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970146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YOLOv5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261118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YOLOv8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522666"/>
                  </a:ext>
                </a:extLst>
              </a:tr>
              <a:tr h="886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Proposed YOLOv8 + CNN-LSTM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92.0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69561"/>
                  </a:ext>
                </a:extLst>
              </a:tr>
            </a:tbl>
          </a:graphicData>
        </a:graphic>
      </p:graphicFrame>
      <p:sp>
        <p:nvSpPr>
          <p:cNvPr id="6" name="AutoShape 2" descr="Output image">
            <a:extLst>
              <a:ext uri="{FF2B5EF4-FFF2-40B4-BE49-F238E27FC236}">
                <a16:creationId xmlns:a16="http://schemas.microsoft.com/office/drawing/2014/main" id="{F6DB7847-C8B4-A5B1-C46F-607444D164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8F1C86-B2A4-D709-88AE-FAA66ABC4F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13" y="3228372"/>
            <a:ext cx="4913623" cy="245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02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9C4F-0695-9936-C1D1-8097497D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9502D-F52B-49A1-3155-D25FF0C3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84263"/>
                <a:ext cx="8229600" cy="4830762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Proportion of correctly identified weapon (True Positives) out of all predicted  instances (True Positives + False Positives).</a:t>
                </a:r>
                <a:br>
                  <a:rPr lang="en-IN" sz="2000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𝑷𝒓𝒆𝒄𝒊𝒔𝒊𝒐𝒏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𝑻𝑷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/ (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𝑻𝑷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𝑭𝑷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b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IN" sz="2000" b="1" i="1" dirty="0">
                    <a:latin typeface="Cambria Math" panose="02040503050406030204" pitchFamily="18" charset="0"/>
                    <a:cs typeface="Times New Roman" pitchFamily="18" charset="0"/>
                  </a:rPr>
                </a:br>
                <a:r>
                  <a:rPr lang="en-IN" sz="2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E9502D-F52B-49A1-3155-D25FF0C3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84263"/>
                <a:ext cx="8229600" cy="4830762"/>
              </a:xfr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AA0D2858-0DC4-52D8-8BFB-939A7E09C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Precision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AF86B-5B95-C63C-058C-9D8B4B58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11903" y="6542087"/>
            <a:ext cx="2133600" cy="365125"/>
          </a:xfrm>
        </p:spPr>
        <p:txBody>
          <a:bodyPr/>
          <a:lstStyle/>
          <a:p>
            <a:fld id="{78D9222F-C880-4594-8D1F-0689CAEB7940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21C62B7-A04B-23D2-5AFC-B99914B73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21942"/>
              </p:ext>
            </p:extLst>
          </p:nvPr>
        </p:nvGraphicFramePr>
        <p:xfrm>
          <a:off x="430842" y="2583655"/>
          <a:ext cx="3452532" cy="4055443"/>
        </p:xfrm>
        <a:graphic>
          <a:graphicData uri="http://schemas.openxmlformats.org/drawingml/2006/table">
            <a:tbl>
              <a:tblPr/>
              <a:tblGrid>
                <a:gridCol w="1726266">
                  <a:extLst>
                    <a:ext uri="{9D8B030D-6E8A-4147-A177-3AD203B41FA5}">
                      <a16:colId xmlns:a16="http://schemas.microsoft.com/office/drawing/2014/main" val="2653738590"/>
                    </a:ext>
                  </a:extLst>
                </a:gridCol>
                <a:gridCol w="1726266">
                  <a:extLst>
                    <a:ext uri="{9D8B030D-6E8A-4147-A177-3AD203B41FA5}">
                      <a16:colId xmlns:a16="http://schemas.microsoft.com/office/drawing/2014/main" val="2961066953"/>
                    </a:ext>
                  </a:extLst>
                </a:gridCol>
              </a:tblGrid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 (%)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080892"/>
                  </a:ext>
                </a:extLst>
              </a:tr>
              <a:tr h="761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 R-CNN(Baseline)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067807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SSD-MobileNetV2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486466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RetinaNet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</a:t>
                      </a:r>
                      <a:r>
                        <a:rPr lang="en-IN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970146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YOLOv5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261118"/>
                  </a:ext>
                </a:extLst>
              </a:tr>
              <a:tr h="43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YOLOv8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522666"/>
                  </a:ext>
                </a:extLst>
              </a:tr>
              <a:tr h="886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Proposed YOLOv8 + CNN-LSTM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91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69561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86ADBD5D-F66C-F09C-5B2D-D26F26C1DA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732" y="3239255"/>
            <a:ext cx="5068965" cy="2534482"/>
          </a:xfrm>
          <a:prstGeom prst="rect">
            <a:avLst/>
          </a:prstGeom>
        </p:spPr>
      </p:pic>
      <p:sp>
        <p:nvSpPr>
          <p:cNvPr id="15" name="Footer Placeholder 1">
            <a:extLst>
              <a:ext uri="{FF2B5EF4-FFF2-40B4-BE49-F238E27FC236}">
                <a16:creationId xmlns:a16="http://schemas.microsoft.com/office/drawing/2014/main" id="{8AB402D7-D010-EB5E-32DB-5D846559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59371" y="6573672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</p:spTree>
    <p:extLst>
      <p:ext uri="{BB962C8B-B14F-4D97-AF65-F5344CB8AC3E}">
        <p14:creationId xmlns:p14="http://schemas.microsoft.com/office/powerpoint/2010/main" val="4230510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BC6AE-8DC4-9FB3-D155-E8347F09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6B1D1-CE4C-2272-140E-66922E7AB7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42709"/>
                <a:ext cx="8229600" cy="4830762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sz="2000" dirty="0">
                    <a:solidFill>
                      <a:srgbClr val="000000"/>
                    </a:solidFill>
                    <a:latin typeface="Times New Roman"/>
                    <a:cs typeface="Times New Roman"/>
                  </a:rPr>
                  <a:t>Proportion of correctly detected weapon (TP) out of all sample instances (TP + FN).</a:t>
                </a:r>
                <a:br>
                  <a:rPr lang="en-IN" sz="2000" dirty="0">
                    <a:latin typeface="Times New Roman" pitchFamily="18" charset="0"/>
                    <a:cs typeface="Times New Roman" pitchFamily="18" charset="0"/>
                  </a:rPr>
                </a:b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              </m:t>
                    </m:r>
                    <m:r>
                      <a:rPr lang="en-I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𝑹𝒆𝒄𝒂𝒍𝒍</m:t>
                    </m:r>
                    <m:r>
                      <a:rPr lang="en-IN" sz="20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= </m:t>
                    </m:r>
                    <m:r>
                      <a:rPr lang="en-IN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𝑻𝑷</m:t>
                    </m:r>
                    <m:r>
                      <a:rPr lang="en-IN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/ (</m:t>
                    </m:r>
                    <m:r>
                      <a:rPr lang="en-IN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𝑻𝑷</m:t>
                    </m:r>
                    <m:r>
                      <a:rPr lang="en-IN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+ </m:t>
                    </m:r>
                    <m:r>
                      <a:rPr lang="en-IN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𝑭𝑵</m:t>
                    </m:r>
                    <m:r>
                      <a:rPr lang="en-IN" sz="20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)</m:t>
                    </m:r>
                  </m:oMath>
                </a14:m>
                <a:endParaRPr lang="en-IN" sz="2000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I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A6B1D1-CE4C-2272-140E-66922E7AB7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42709"/>
                <a:ext cx="8229600" cy="4830762"/>
              </a:xfr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739A3FEE-6403-56A5-6C48-879D9318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Recall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AB6EA-E39D-C466-F047-0722DED0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64518" y="6538912"/>
            <a:ext cx="2133600" cy="365125"/>
          </a:xfrm>
        </p:spPr>
        <p:txBody>
          <a:bodyPr/>
          <a:lstStyle/>
          <a:p>
            <a:fld id="{78D9222F-C880-4594-8D1F-0689CAEB7940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C35E4A-33DD-DB01-C2C5-1FFEE3F61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213254"/>
              </p:ext>
            </p:extLst>
          </p:nvPr>
        </p:nvGraphicFramePr>
        <p:xfrm>
          <a:off x="457200" y="2665984"/>
          <a:ext cx="3454400" cy="4055491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2290054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696634950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Algorithm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 (%)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230379"/>
                  </a:ext>
                </a:extLst>
              </a:tr>
              <a:tr h="761111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Faster R-CNN(Baseline)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440623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SSD-MobileNetV2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484598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RetinaNet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628545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YOLOv5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179322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YOLOv8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919832"/>
                  </a:ext>
                </a:extLst>
              </a:tr>
              <a:tr h="886841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YOLOv8 + CNN-LSTM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90.0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752602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0FF365B-15FE-B6B0-CAF4-C850228F45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597" y="3429000"/>
            <a:ext cx="4703205" cy="2351602"/>
          </a:xfrm>
          <a:prstGeom prst="rect">
            <a:avLst/>
          </a:prstGeom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4827F7A0-74FE-F33A-3FAD-9CD9D3EB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712" y="6586510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</p:spTree>
    <p:extLst>
      <p:ext uri="{BB962C8B-B14F-4D97-AF65-F5344CB8AC3E}">
        <p14:creationId xmlns:p14="http://schemas.microsoft.com/office/powerpoint/2010/main" val="1257757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FA9F2-D2F1-7219-B3D2-ADA928E1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687D7-065E-BE04-A480-93AE574820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4543" y="1147294"/>
                <a:ext cx="8229600" cy="4830762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>
                  <a:lnSpc>
                    <a:spcPct val="150000"/>
                  </a:lnSpc>
                  <a:buFont typeface="Arial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harmonic mean of precision and recall, balancing true positives against false positives and false negatives.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20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𝑭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IN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𝑺𝒄𝒐𝒓𝒆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∗ (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𝑷𝒓𝒆𝒄𝒊𝒔𝒊𝒐𝒏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∗ 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𝑹𝒆𝒄𝒂𝒍𝒍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/ (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𝑷𝒓𝒆𝒄𝒊𝒔𝒊𝒐𝒏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𝑹𝒆𝒄𝒂𝒍𝒍</m:t>
                    </m:r>
                    <m:r>
                      <a:rPr lang="en-US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 </m:t>
                    </m:r>
                  </m:oMath>
                </a14:m>
                <a:r>
                  <a:rPr lang="en-IN" sz="20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itchFamily="18" charset="0"/>
                  </a:rPr>
                  <a:t>          </a:t>
                </a:r>
                <a:br>
                  <a:rPr lang="en-IN" sz="2000" i="1" dirty="0">
                    <a:latin typeface="Cambria Math" panose="02040503050406030204" pitchFamily="18" charset="0"/>
                    <a:cs typeface="Times New Roman" pitchFamily="18" charset="0"/>
                  </a:rPr>
                </a:br>
                <a:endParaRPr lang="en-I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7687D7-065E-BE04-A480-93AE57482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543" y="1147294"/>
                <a:ext cx="8229600" cy="4830762"/>
              </a:xfrm>
              <a:blipFill>
                <a:blip r:embed="rId2"/>
                <a:stretch>
                  <a:fillRect l="-667" r="-10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>
            <a:extLst>
              <a:ext uri="{FF2B5EF4-FFF2-40B4-BE49-F238E27FC236}">
                <a16:creationId xmlns:a16="http://schemas.microsoft.com/office/drawing/2014/main" id="{30B61152-0007-E3DD-4406-4343E12E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/>
                <a:cs typeface="Times New Roman"/>
              </a:rPr>
              <a:t>F1 Score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FF084-616C-8B6C-1264-551F8AF2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44031" y="6538912"/>
            <a:ext cx="2133600" cy="365125"/>
          </a:xfrm>
        </p:spPr>
        <p:txBody>
          <a:bodyPr/>
          <a:lstStyle/>
          <a:p>
            <a:fld id="{78D9222F-C880-4594-8D1F-0689CAEB7940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203F13-1A03-F3B9-8082-FF09FF578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43640"/>
              </p:ext>
            </p:extLst>
          </p:nvPr>
        </p:nvGraphicFramePr>
        <p:xfrm>
          <a:off x="457200" y="2665984"/>
          <a:ext cx="3454400" cy="4055491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69769868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896390051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Algorithm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Accuracy (%)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031568"/>
                  </a:ext>
                </a:extLst>
              </a:tr>
              <a:tr h="761111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Faster R-CNN(Baseline)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17359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SSD-MobileNetV2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491179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RetinaNet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53023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US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YOLOv5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6311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YOLOv8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16518"/>
                  </a:ext>
                </a:extLst>
              </a:tr>
              <a:tr h="886841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Proposed YOLOv8 + CNN-LSTM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en-IN" sz="1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91.0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9932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C6DDCD-4800-F499-76DB-E06BF971C5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498" y="3167955"/>
            <a:ext cx="5085502" cy="2542751"/>
          </a:xfrm>
          <a:prstGeom prst="rect">
            <a:avLst/>
          </a:prstGeom>
        </p:spPr>
      </p:pic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5ADBFF87-107C-F084-6D01-A63F2565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712" y="6583362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</p:spTree>
    <p:extLst>
      <p:ext uri="{BB962C8B-B14F-4D97-AF65-F5344CB8AC3E}">
        <p14:creationId xmlns:p14="http://schemas.microsoft.com/office/powerpoint/2010/main" val="2433472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5B80C-77C9-C2C1-8C11-42D9B77B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3B061F-CB9F-E849-CA0B-007B6E0F7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screenshots </a:t>
            </a:r>
            <a:endParaRPr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77196-3E04-24EB-B30C-37A0E00D5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78D9222F-C880-4594-8D1F-0689CAEB7940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2826F5-CC3B-0984-FF59-02F47429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1057"/>
            <a:ext cx="4343358" cy="30558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F31967-F929-8F74-E2EC-1AEDE39FF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567" y="1901057"/>
            <a:ext cx="4038600" cy="3055885"/>
          </a:xfrm>
          <a:prstGeom prst="rect">
            <a:avLst/>
          </a:prstGeom>
        </p:spPr>
      </p:pic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F935E3E-EEED-D229-1294-6D025F882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7877" y="6538912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</p:spTree>
    <p:extLst>
      <p:ext uri="{BB962C8B-B14F-4D97-AF65-F5344CB8AC3E}">
        <p14:creationId xmlns:p14="http://schemas.microsoft.com/office/powerpoint/2010/main" val="588860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8F29-50DE-5570-671A-28B0CE6F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87675DA-D043-9BB3-2F4A-054B5870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screenshots </a:t>
            </a:r>
            <a:endParaRPr sz="3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702074-ABD1-3747-F1DA-93F56ACB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22CS703 - Project I                                  Review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58EE5-395A-F6EB-A8E8-3B0B003E3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9222F-C880-4594-8D1F-0689CAEB7940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47AE07-49AE-51A4-8231-EE54F5872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4139804" cy="40687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021CE7-3A41-9D5C-8BF3-22F549917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9" y="1562100"/>
            <a:ext cx="433280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6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48A84-07D9-BFFD-8E87-BA239B24B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0F447-4EE8-7C46-3EB1-ED572B9B9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1310727"/>
            <a:ext cx="8719457" cy="48307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 surveillance framework integrates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with a CNN-LSTM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for accurate and real-time detection of multiple weapons in live video streams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effectively identifies and classifies threats such as guns, knives, and rifles, ensuring enhanced situational awareness in public and restricted areas.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and CNN-LSTM improves 6%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accuracy compared to existing model, which gives overall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of 91.0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architecture delivers high accuracy and rapid response, making it efficient solution for intelligent security and automated threat alert systems.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6DAFF21-F428-D85E-309A-5DE49EA6B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062E7-DC43-E892-23C3-54F807784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65680"/>
            <a:ext cx="2133600" cy="365125"/>
          </a:xfrm>
        </p:spPr>
        <p:txBody>
          <a:bodyPr/>
          <a:lstStyle/>
          <a:p>
            <a:fld id="{78D9222F-C880-4594-8D1F-0689CAEB794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Footer Placeholder 1">
            <a:extLst>
              <a:ext uri="{FF2B5EF4-FFF2-40B4-BE49-F238E27FC236}">
                <a16:creationId xmlns:a16="http://schemas.microsoft.com/office/drawing/2014/main" id="{CA56AF3F-7DA6-5821-C63E-0F97AA4CA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9615" y="6492875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</p:spTree>
    <p:extLst>
      <p:ext uri="{BB962C8B-B14F-4D97-AF65-F5344CB8AC3E}">
        <p14:creationId xmlns:p14="http://schemas.microsoft.com/office/powerpoint/2010/main" val="1578543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FF029-94F9-0C5B-90AC-D338AC03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389321-6E0F-C2D3-E973-F96B57F5F0E1}"/>
              </a:ext>
            </a:extLst>
          </p:cNvPr>
          <p:cNvSpPr>
            <a:spLocks noGrp="1"/>
          </p:cNvSpPr>
          <p:nvPr/>
        </p:nvSpPr>
        <p:spPr>
          <a:xfrm>
            <a:off x="457200" y="1526061"/>
            <a:ext cx="8229600" cy="4830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M. R. Raja Ramesh, P. Mamatha, P.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Viswanadha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Pavan Varma, and S. Wasim Akram, “Harnessing Deep Learning for Video Based Weapon Detection,”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AI, ML &amp; NN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4, no. 5, pp. 30–40, Aug. 2024.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V. Prasanna Kumari, G. Vikram Chandra, Sumalatha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Potteti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Pornima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Niranjane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Namita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Parati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N. Sudha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Laxmaiah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“Deep Learning-based camouflaged object detection and tracking for enhanced video surveillance,”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Panamerican Mathematical Journal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34, no. 4, Oct. 2024.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Ahmed, M. T. Bhatti, M. G. Khan, B.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Lövström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Shahid, “Development and optimization of Deep Learning models for weapon detection in surveillance videos,”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12, art. 5772, 2022.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Handgun Detection Using Combined Human Pose and Weapon Appearance,” IEEE Access, vol. 9, pp. 123815–123826, 2021.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Weapon Detection using Artificial Intelligence and Deep Learning for Security Applications, IEEE Xplore Part Number: CFP20V66-ART.</a:t>
            </a:r>
          </a:p>
          <a:p>
            <a:pPr algn="just">
              <a:buFont typeface="+mj-lt"/>
              <a:buAutoNum type="arabicPeriod" startAt="6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Janani, A.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Suratgar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Taghvaeipour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“Enhancing human action recognition and violence detection through Deep Learning audiovisual fusion,”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preprint, Aug. 2024.</a:t>
            </a:r>
          </a:p>
          <a:p>
            <a:pPr algn="just">
              <a:buFont typeface="+mj-lt"/>
              <a:buAutoNum type="arabicPeriod" startAt="6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“Audio-Visual Representation Learning for Anomaly Events Detection in Crowds”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2021) 3D-CNN + audio-CNN fusion improves crowd anomaly detection in surveillance.</a:t>
            </a:r>
          </a:p>
          <a:p>
            <a:pPr marL="457200" indent="-457200" algn="just">
              <a:buFont typeface="+mj-lt"/>
              <a:buAutoNum type="arabicPeriod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3394701-CEBB-59E0-57DA-5FF6EBDF6BCE}"/>
              </a:ext>
            </a:extLst>
          </p:cNvPr>
          <p:cNvSpPr>
            <a:spLocks noGrp="1"/>
          </p:cNvSpPr>
          <p:nvPr/>
        </p:nvSpPr>
        <p:spPr>
          <a:xfrm>
            <a:off x="473528" y="2055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endParaRPr sz="3200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859CA113-844F-9A42-6EFC-EFE4C823565D}"/>
              </a:ext>
            </a:extLst>
          </p:cNvPr>
          <p:cNvSpPr>
            <a:spLocks noGrp="1"/>
          </p:cNvSpPr>
          <p:nvPr/>
        </p:nvSpPr>
        <p:spPr>
          <a:xfrm>
            <a:off x="6625187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</a:t>
            </a:r>
          </a:p>
        </p:txBody>
      </p:sp>
      <p:sp>
        <p:nvSpPr>
          <p:cNvPr id="18" name="Footer Placeholder 1">
            <a:extLst>
              <a:ext uri="{FF2B5EF4-FFF2-40B4-BE49-F238E27FC236}">
                <a16:creationId xmlns:a16="http://schemas.microsoft.com/office/drawing/2014/main" id="{D53AAAAB-9DEA-907E-93ED-C0646E76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13638" y="6492875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</p:spTree>
    <p:extLst>
      <p:ext uri="{BB962C8B-B14F-4D97-AF65-F5344CB8AC3E}">
        <p14:creationId xmlns:p14="http://schemas.microsoft.com/office/powerpoint/2010/main" val="2782292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9099911-2A8C-A908-EA17-BFF1D7CDCD06}"/>
              </a:ext>
            </a:extLst>
          </p:cNvPr>
          <p:cNvSpPr>
            <a:spLocks noGrp="1"/>
          </p:cNvSpPr>
          <p:nvPr/>
        </p:nvSpPr>
        <p:spPr>
          <a:xfrm>
            <a:off x="6569528" y="64698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D9222F-C880-4594-8D1F-0689CAEB794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73FD3118-FEE9-A307-796C-8DB9F138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0101" y="6469855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61925DD-D326-11AC-B804-940BDEDA79DC}"/>
              </a:ext>
            </a:extLst>
          </p:cNvPr>
          <p:cNvSpPr>
            <a:spLocks noGrp="1"/>
          </p:cNvSpPr>
          <p:nvPr/>
        </p:nvSpPr>
        <p:spPr>
          <a:xfrm>
            <a:off x="457200" y="1013619"/>
            <a:ext cx="8229600" cy="4830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+mj-lt"/>
              <a:buAutoNum type="arabicPeriod" startAt="6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61925DD-D326-11AC-B804-940BDEDA79DC}"/>
              </a:ext>
            </a:extLst>
          </p:cNvPr>
          <p:cNvSpPr>
            <a:spLocks noGrp="1"/>
          </p:cNvSpPr>
          <p:nvPr/>
        </p:nvSpPr>
        <p:spPr>
          <a:xfrm>
            <a:off x="440871" y="1348582"/>
            <a:ext cx="8229600" cy="4830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+mj-lt"/>
              <a:buAutoNum type="arabicPeriod" startAt="8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R. Lima, D. J. Ferreira, E. S. Dias, M. R. Mota, A. L. B. Chagas, and P. L. S. Lobo, “Computer Vision for Weapon Detection in Educational Environments: A Systematic Literature Review,” in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Anais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Estendidos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impósio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Brasileiro de Sistemas 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Multimídia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Web (</a:t>
            </a:r>
            <a:r>
              <a:rPr lang="en-IN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WebMedia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2024)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Juiz de Fora, MG, Brazil, pp. 121–128, 2024.</a:t>
            </a:r>
          </a:p>
          <a:p>
            <a:pPr algn="just">
              <a:buFont typeface="+mj-lt"/>
              <a:buAutoNum type="arabicPeriod" startAt="8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Ruiz-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Santaquiteria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Velasco-Mata, N.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Vállez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Bueno, J. A. Álvarez-García, and O. Deniz, “Improving handgun detection through a combination of visual features and body pose-based data,”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136, art. no. 109252, 2023.</a:t>
            </a:r>
          </a:p>
          <a:p>
            <a:pPr algn="just">
              <a:buFont typeface="+mj-lt"/>
              <a:buAutoNum type="arabicPeriod" startAt="8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Salido, J.; Lomas, V.; Ruiz-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Santaquiteria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J.; Deniz, O.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Handgun Detection with Deep Learning in Video Surveillance Images.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Sciences 2021, 11, 6085.</a:t>
            </a:r>
          </a:p>
          <a:p>
            <a:pPr algn="just">
              <a:buFont typeface="+mj-lt"/>
              <a:buAutoNum type="arabicPeriod" startAt="8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Olmos, R.;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Tabik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S.; Lamas, A.; Pérez-Hernández, F.; Herrera, F.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binocular image fusion approach for minimizing false positives in handgun detection with Deep Learning.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Information Fusion 2019, 49, 271–280. (Reduces false positives with stereo image fusion.)</a:t>
            </a:r>
          </a:p>
          <a:p>
            <a:pPr algn="just">
              <a:buFont typeface="+mj-lt"/>
              <a:buAutoNum type="arabicPeriod" startAt="8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Berardini, L.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Migliorelli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Galdelli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Frontoni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Mancini, and S. Moccia, “A deep-learning framework running on edge devices for handgun and knife detection from indoor video-surveillance cameras,”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Multimedia Tools and Applications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83, pp. 19109–19127, Jul. 2023.</a:t>
            </a:r>
          </a:p>
          <a:p>
            <a:pPr algn="just">
              <a:buFont typeface="+mj-lt"/>
              <a:buAutoNum type="arabicPeriod" startAt="8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Hernández, R. Fonseca, and E. López, “Concealed weapon detection using thermal cameras,”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3, p. 72, Mar. 2023.</a:t>
            </a:r>
          </a:p>
          <a:p>
            <a:pPr algn="just">
              <a:buFont typeface="+mj-lt"/>
              <a:buAutoNum type="arabicPeriod" startAt="8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 startAt="8"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8"/>
            </a:pPr>
            <a:endParaRPr lang="en-IN" sz="2000" dirty="0"/>
          </a:p>
          <a:p>
            <a:pPr marL="457200" indent="-457200" algn="just">
              <a:buFont typeface="+mj-lt"/>
              <a:buAutoNum type="arabicPeriod" startAt="8"/>
            </a:pPr>
            <a:endParaRPr lang="en-US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85EE93E3-073D-A1CD-B196-22E58678CA9F}"/>
              </a:ext>
            </a:extLst>
          </p:cNvPr>
          <p:cNvSpPr>
            <a:spLocks noGrp="1"/>
          </p:cNvSpPr>
          <p:nvPr/>
        </p:nvSpPr>
        <p:spPr>
          <a:xfrm>
            <a:off x="473528" y="2055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0038006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D23F0E8-C20B-6D92-1819-18F4C28604AF}"/>
              </a:ext>
            </a:extLst>
          </p:cNvPr>
          <p:cNvSpPr>
            <a:spLocks noGrp="1"/>
          </p:cNvSpPr>
          <p:nvPr/>
        </p:nvSpPr>
        <p:spPr>
          <a:xfrm>
            <a:off x="440871" y="1348582"/>
            <a:ext cx="8229600" cy="4830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+mj-lt"/>
              <a:buAutoNum type="arabicPeriod" startAt="14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Alotaibi, F.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Alraddadi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Jebreen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“Weapon detection in surveillance footage through Deep Learning: A systematic review,”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Review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49, p. 100612, Feb. 2024.</a:t>
            </a:r>
          </a:p>
          <a:p>
            <a:pPr algn="just">
              <a:buFont typeface="+mj-lt"/>
              <a:buAutoNum type="arabicPeriod" startAt="14"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E. E. </a:t>
            </a:r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Quyyum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M. H. L. Abdullah, “Weapon Detection in Surveillance Videos Using Deep Neural Networks,” in </a:t>
            </a:r>
            <a:r>
              <a:rPr lang="en-IN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MECON 2022, AER 214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edited by M. Y. bin Alias, pp. 183–195, 2023.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044A095-CE3E-384B-DF25-06EA2263FD4E}"/>
              </a:ext>
            </a:extLst>
          </p:cNvPr>
          <p:cNvSpPr>
            <a:spLocks noGrp="1"/>
          </p:cNvSpPr>
          <p:nvPr/>
        </p:nvSpPr>
        <p:spPr>
          <a:xfrm>
            <a:off x="473528" y="2055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endParaRPr sz="3200" dirty="0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5E31930-10CD-CBC8-CD89-BC94EE06DEAA}"/>
              </a:ext>
            </a:extLst>
          </p:cNvPr>
          <p:cNvSpPr>
            <a:spLocks noGrp="1"/>
          </p:cNvSpPr>
          <p:nvPr/>
        </p:nvSpPr>
        <p:spPr>
          <a:xfrm>
            <a:off x="6569528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D9222F-C880-4594-8D1F-0689CAEB794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Footer Placeholder 1">
            <a:extLst>
              <a:ext uri="{FF2B5EF4-FFF2-40B4-BE49-F238E27FC236}">
                <a16:creationId xmlns:a16="http://schemas.microsoft.com/office/drawing/2014/main" id="{F794D5B7-AE48-64B8-1B76-734E54A0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1907" y="6492875"/>
            <a:ext cx="3149379" cy="365125"/>
          </a:xfrm>
        </p:spPr>
        <p:txBody>
          <a:bodyPr/>
          <a:lstStyle/>
          <a:p>
            <a:r>
              <a:rPr lang="en-US" dirty="0"/>
              <a:t>22CS703 - Project I                                  viva</a:t>
            </a:r>
          </a:p>
        </p:txBody>
      </p:sp>
    </p:spTree>
    <p:extLst>
      <p:ext uri="{BB962C8B-B14F-4D97-AF65-F5344CB8AC3E}">
        <p14:creationId xmlns:p14="http://schemas.microsoft.com/office/powerpoint/2010/main" val="1659164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73B1FE-EAF3-4645-A4FB-EDF69D4DE325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1884</Words>
  <Application>Microsoft Office PowerPoint</Application>
  <PresentationFormat>On-screen Show (4:3)</PresentationFormat>
  <Paragraphs>202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Office Theme</vt:lpstr>
      <vt:lpstr>1_Office Theme</vt:lpstr>
      <vt:lpstr>PowerPoint Presentation</vt:lpstr>
      <vt:lpstr>ABSTRACT</vt:lpstr>
      <vt:lpstr>INTRODUCTION </vt:lpstr>
      <vt:lpstr>PowerPoint Presentation</vt:lpstr>
      <vt:lpstr>MOTIVATIONS</vt:lpstr>
      <vt:lpstr>PROBLEM STATEMENT</vt:lpstr>
      <vt:lpstr>OBJECTIVES </vt:lpstr>
      <vt:lpstr>METHODOLOGIES</vt:lpstr>
      <vt:lpstr>METHODOLOGIES</vt:lpstr>
      <vt:lpstr>METHODOLOGIES</vt:lpstr>
      <vt:lpstr>METHODOLOGIES</vt:lpstr>
      <vt:lpstr>Performance Analysis </vt:lpstr>
      <vt:lpstr>Accuracy</vt:lpstr>
      <vt:lpstr>Precision</vt:lpstr>
      <vt:lpstr>Recall</vt:lpstr>
      <vt:lpstr>F1 Score</vt:lpstr>
      <vt:lpstr>Working screenshots </vt:lpstr>
      <vt:lpstr>Working screenshots </vt:lpstr>
      <vt:lpstr>CONCLUSION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Detection of Alzheimer’s Disease with Blood Plasma Proteins Using Support Vector Machines</dc:title>
  <dc:creator>DELL</dc:creator>
  <cp:lastModifiedBy>AGASH K</cp:lastModifiedBy>
  <cp:revision>56</cp:revision>
  <dcterms:created xsi:type="dcterms:W3CDTF">2021-10-05T11:57:50Z</dcterms:created>
  <dcterms:modified xsi:type="dcterms:W3CDTF">2025-11-07T10:32:26Z</dcterms:modified>
</cp:coreProperties>
</file>